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56032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ENTERPRISE WORKSPACE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Panduan Alur Kerja &amp; Peran Pengguna</a:t>
            </a:r>
          </a:p>
          <a:p>
            <a:pPr>
              <a:spcBef>
                <a:spcPts val="1400"/>
              </a:spcBef>
              <a:defRPr sz="2000">
                <a:solidFill>
                  <a:srgbClr val="94A3B8"/>
                </a:solidFill>
              </a:defRPr>
            </a:pPr>
            <a:r>
              <a:t>Sistem Manajemen Eksekusi Action Plan &amp; Akuntabilitas Multi-Divisi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242316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SUPER ADMIN</a:t>
            </a:r>
          </a:p>
          <a:p>
            <a:pPr algn="ctr"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Multi-Tenant &amp; Kuota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57016" y="4389120"/>
            <a:ext cx="242316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ADMIN OPS</a:t>
            </a:r>
          </a:p>
          <a:p>
            <a:pPr algn="ctr"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Perusahaan &amp; Divisi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4389120"/>
            <a:ext cx="242316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MANAGER</a:t>
            </a:r>
          </a:p>
          <a:p>
            <a:pPr algn="ctr"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Perencanaan &amp; Approval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42248" y="4389120"/>
            <a:ext cx="242316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PIC / EKSEKUTOR</a:t>
            </a:r>
          </a:p>
          <a:p>
            <a:pPr algn="ctr"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Eksekusi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PT Sobat UMKM Pro • ProMaP Enterprise Execution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FILOSOFI &amp; MASALAH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Mengapa ProMaP? Solusi Eksekusi Rencana Strategis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Tantangan Klasik Eksekusi Rencana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Rencana Strategis Berhenti di Notula: Program kerja hanya hidup saat rapat, tanpa tindak lanjut operasional.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Spreadsheet Berceceran &amp; Tidak Sinkron: Progres tercecer di berbagai file Excel dan grup chat tanpa kendali versi.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Ketiadaan Pembuktian Nyata (No Evidence): Status sering diklaim 'Selesai' tanpa ada verifikasi hasil kerja riil.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• Tenggat Waktu Sering Terlewat (Overdue Ghosting): Keterlambatan baru disadari saat evaluasi akhir bulan/kuartal.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 rIns="365760" bIns="36576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Nilai Inti yang Dihadirkan ProMaP V2.4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✔ Single Source of Truth: Seluruh divisi (Marketing, Ops, HR, Finance) bekerja dalam satu ekosistem terpadu.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✔ Akuntabilitas Berbasis Bukti (Evidence-Driven): Action Plan wajib melampirkan berkas bukti kerja sebelum disetujui Manager.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✔ Siklus 8 Status Transparan: Transisi status ketat dengan pencegahan manipulasi progres.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✔ Otomasi Overdue Tepat Waktu: Cron sistem otomatis menandai keterlambatan tepat pukul 00:01 WIB tanpa subjektivitas.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STRUKTUR DATA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Hierarki Kerja ProMaP: Dari Visi ke Aksi Lapangan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Berlaku universal untuk semua divisi (Marketing, Operasional, HR, Keuangan, dsb), bukan hanya tim teknis.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4688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1. PROJECT (INISIATIF)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Payung Program Strategis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Wadah besar inisiatif divisi, e.g. 'Ekspansi Pasar Q3', 'Audit SOP Gudang', 'Rekrutmen Batch 2'.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4688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4688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2. TASK (PAKET SASARAN)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Deliverable Terdelegasi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Paket sasaran spesifik di bawah Project yang dipegang oleh PIC atau Lead penanggung jawab.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103120"/>
            <a:ext cx="24688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24688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ACTION PLAN (EKSEKUSI)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Aksi Harian / Mingguan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Langkah kerja konkret PIC dengan target waktu, pembuktian (evidence), dan siklus 8 status.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468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0" y="2103120"/>
            <a:ext cx="24688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4. CHECKLIST (MILESTONE)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t>Verifikasi Detail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Poin-poin mikro per Action Plan yang dapat dicentang langsung untuk mengukur kemajuan.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2103120"/>
            <a:ext cx="24688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5120640" cy="868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💡 Proposal (Bottom-Up Innovation)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Staf/PIC dapat mengusulkan inisiatif baru ke Manager. Jika disetujui, langsung jadi Action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577840"/>
            <a:ext cx="5212080" cy="868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</a:defRPr>
            </a:pPr>
            <a:r>
              <a:t>📌 Personal Task (To-Do Pribadi)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Catatan tugas pribadi PIC untuk produktivitas mandiri tanpa mengotori agregasi progres tim.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ROLE &amp; ACCESS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Peta Peran (RBAC) &amp; Hak Akses ProMaP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Super Admin  (SUPER_ADMIN)   •   Cakupan Data: Lintas Seluruh Perusahaan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Wewenang Utama: Kelola Perusahaan, Tier Langganan, Leads Demo, Global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3716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615184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Admin Ops  (ADMIN_OPERATIONAL)   •   Cakupan Data: 1 Perusahaan (Semua Divisi)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Wewenang Utama: Kelola Divisi, User Management, Kuota Kursi, Approval UserLabel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15184"/>
            <a:ext cx="137160" cy="8046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584448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Manager Divisi  (MANAGER)   •   Cakupan Data: 1 Divisi Penanggung Jawab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Wewenang Utama: Inisiatif Proyek, Review Action Plan, Approval Proposal, Workload Tim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84448"/>
            <a:ext cx="137160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553712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Person In Charge  (PIC)   •   Cakupan Data: Pekerjaan Sendiri &amp; Divisi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Wewenang Utama: Konsol 'My Work', Eksekusi Action Plan, Upload Evidence, Buat Proposal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53712"/>
            <a:ext cx="137160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522976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109728"/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Tamu / Demo  (GUEST)   •   Cakupan Data: Data Simulasi (Dummy)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Wewenang Utama: Akses demo 2 jam, uji coba fitur interaktif, pendaftaran trial 30 hari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22976"/>
            <a:ext cx="137160" cy="8046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TATA KELOLA TINGKAT TINGGI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Deep Dive: Super Admin &amp; Admin Operasional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 bIns="32004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🛡️ Super Admin (Platform Owner)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Multi-Tenant Governance: Mengontrol pendaftaran perusahaan (Company CRUD), status langganan (Basic, Premium, Enterprise).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Lead &amp; Demo Management: Memantau calon pelanggan dari formulir Guest Demo untuk dikonversi menjadi klien berbayar.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Global System Health: Memantau performa Neon DB, integritas sistem, audit log aktivitas pengguna lintas tenant.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Keamanan Sentral: Mengatur token rahasia cron, perlindungan isolasi tenant berbasis RLS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 bIns="320040"/>
          <a:lstStyle/>
          <a:p>
            <a:pPr algn="ctr">
              <a:defRPr sz="1600" b="1">
                <a:solidFill>
                  <a:srgbClr val="4F46E5"/>
                </a:solidFill>
              </a:defRPr>
            </a:pPr>
            <a:r>
              <a:t>🏢 Admin Operasional (Company Admin)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Struktur Divisi: Membuat dan mengelola seluruh divisi perusahaan (Marketing, Finance, HR, Operasional).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Manajemen Pengguna &amp; Kuota: Menambah akun staf, menetapkan peran, serta membatasi seat quota sesuai paket langganan.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Persetujuan Label Jabatan: Menyetujui usulan 'UserLabel' dinamis (e.g. Staff Tetap, Magang, Specialist, Lead).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• Pengawasan Lintas Divisi: Menganalisis perbandingan completion rate dan tata kelola (Governance Index) seluruh divisi.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ORKESTRASI TIM DIVISI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Deep Dive: Manager (Penggerak &amp; Quality Control)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Perencanaan Strategis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Membuat Project (inisiatif besar) dan memecahnya menjadi Task deliverable serta mendelegasikan PIC yang tepat.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Action Required Panel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Mendapat notifikasi sentral di dashboard untuk Action Plan yang butuh review, approval, atau revisi segera.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46888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Approval Berbasis Bukti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Memeriksa lampiran evidence PIC. Dapat menerima (Approve), meminta bukti baru, atau menolak (Reject) disertai alasan.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4688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7432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Monitoring Overdue &amp; Beban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Memantau keterlambatan tim secara proaktif, mengirim reminder cepat ke PIC, dan menjaga distribusi beban kerja.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645920"/>
            <a:ext cx="246888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728655" cy="77724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5F46"/>
                </a:solidFill>
              </a:defRPr>
            </a:pPr>
            <a:r>
              <a:t>🎯 Nilai Manager: Tidak lagi mengejar laporan manual via chat; seluruh progres &amp; bukti tersaji otomatis dalam satu layar inspeksi.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EKSEKUSI LAPANGAN &amp; PROSPEK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Deep Dive: PIC (Pelaksana) &amp; Mode Guest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 bIns="32004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⚡ PIC (Person In Charge / Eksekutor)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Konsol Mandiri 'My Work': Fokus hanya pada tugas milik sendiri tanpa pusing administrasi organisasi besar.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Alur Bukti (Upload Evidence): Mengunggah file PDF, gambar, atau link hasil kerja nyata saat mengajukan approval.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Revisi Terarah: Menerima catatan perbaikan spesifik dari Manager jika Action Plan ditolak (REJECTED).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Inisiatif Usulan (Proposals): PIC dapat mengusulkan ide program kerja inovatif langsung ke Manager secara formal.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Multi-View Pribadi: Tampilan Kanban Board, Tabel, dan Kalender yang sinkron dengan deadline pribadi.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 bIns="320040"/>
          <a:lstStyle/>
          <a:p>
            <a:pPr algn="ctr">
              <a:defRPr sz="1600" b="1">
                <a:solidFill>
                  <a:srgbClr val="64748B"/>
                </a:solidFill>
              </a:defRPr>
            </a:pPr>
            <a:r>
              <a:t>🌐 Mode Guest Demo (Eksplorasi Tamu)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Tanpa Registrasi Rumit: Cukup mengisi Nama, Email, No HP, dan Nama Perusahaan langsung di card login.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Data Dummy Terisolasi: Data demo terisi otomatis untuk eksplorasi tanpa menyentuh database operasional real.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Sesi Aktif 2 Jam: Dibatasi token 2 jam dengan kuota maksimal 3x login demo per hari per email.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Funnel Leads B2B: Setiap klik fitur aktif menghadirkan CTA 'Aktivasi Trial 30 Hari' yang langsung tercatat sebagai prospek tim sales.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ALUR PENGGUNAAN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Alur 1: Inovasi Bottom-Up Lewat Sistem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777240"/>
          <a:lstStyle/>
          <a:p>
            <a:pPr algn="ctr">
              <a:defRPr sz="1200" b="1">
                <a:solidFill>
                  <a:srgbClr val="4F46E5"/>
                </a:solidFill>
              </a:defRPr>
            </a:pPr>
            <a:r>
              <a:t>1. SUBMIT PROPOSAL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Staf / PIC membuat draft inisiatif, menjelaskan latar belakang, estimasi dampak, &amp; anggaran.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48640" cy="2743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77724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2. ACTION REQUIRED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Usulan masuk otomatis ke dashboard Manager divisi pada panel 'Action Required'.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5486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77724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3. REVIEW &amp; KEPUTUSAN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Manager mengevaluasi usulan. Jika ditolak wajib menyertakan alasan penolakan tertulis.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54864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688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77724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OTOMATIS JADI AP</a:t>
            </a:r>
          </a:p>
          <a:p>
            <a:pPr>
              <a:spcBef>
                <a:spcPts val="1000"/>
              </a:spcBef>
              <a:defRPr sz="1050">
                <a:solidFill>
                  <a:srgbClr val="0F172A"/>
                </a:solidFill>
              </a:defRPr>
            </a:pPr>
            <a:r>
              <a:t>Jika disetujui, proposal dikonversi langsung menjadi Action Plan resmi di dalam Project.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103120"/>
            <a:ext cx="54864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STANDAR OPERASIONAL EKSEKUSI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Alur 2: Siklus 8 Status &amp; Eksekusi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9144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NOT_STARTED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Baru ditugaskan ke PIC, belum mulai dikerjakan.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9144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IN_PROGRESS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Sedang dikerjakan oleh PIC secara aktif.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120640" cy="9144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PENDING_APPROVAL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Bukti kerja di-submit, menunggu review Manager.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743200"/>
            <a:ext cx="5120640" cy="9144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EVIDENCE_REQUIRED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Manager meminta bukti lampiran tambahan dari PIC.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914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APPROVED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Disetujui Manager setelah bukti terverifikasi valid.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3840480"/>
            <a:ext cx="5120640" cy="9144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COMPLETE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Pekerjaan tuntas sempurna dan tercatat di histori capaian.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12064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REJECTED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Ditolak karena tidak sesuai SOP; kembali ke In Progress untuk revisi.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4937760"/>
            <a:ext cx="5120640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OVERDUE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Terlambat otomatis oleh Cron 00:01 WIB jika lewat tenggat.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USER EXPERIENCE &amp; TAMPILAN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Multi-View Workspace: 1 Data, 3 Cara Pandang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📋 Table View (Tabel Detail)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Inspeksi &amp; Filter Mendalam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Cocok untuk audit menyeluruh: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Filter canggih: Divisi, PIC, Prioritas, Periode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Sortir cepat deadline terdekat &amp; prioritas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Drawer samping untuk inspeksi tanpa pindah halaman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📌 Kanban Board (5 Kolom)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Visibilitas Progres Cepat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Memetakan 8 status ke dalam 5 kolom rapi: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Not Started, In Progress, Review, Needs Revision, Done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Badge merah Overdue di kartu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Drag &amp; drop terlindungi aturan status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📅 Calendar &amp; Gantt Timeline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Manajemen Batas Waktu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Visualisasi horizontal rentang waktu: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Tampilan bulanan, mingguan, &amp; agenda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Ekspor kalender ke format PDF resolusi tinggi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Sinkronisasi feed kalender (.ics)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PEMANTAUAN &amp; LAPORAN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Sistem Monitoring, Notifikasi &amp; Tata Kelola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🔔 Notifikasi &amp; @Mention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Pemberitahuan in-app instan saat Action Plan didelegasikan, butuh review, atau saat staf di-mention dalam diskusi.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82880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⏰ Cron Job Overdue Otomatis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Berjalan setiap pukul 00:01 WIB. Menandai tugas yang melewati deadline tanpa intervensi manual.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📊 Dashboard Metrik Adaptif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Menampilkan 4 kartu ringkasan (Total, Selesai, In Progress, Overdue) serta Donut chart sebaran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4206240"/>
            <a:ext cx="512064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2860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📈 Laporan Eksekutif &amp; Audit Log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Ekspor laporan evaluasi berkala (Excel/PDF) dan riwayat perubahan lengkap (siapa mengubah apa dan kapan).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RINGKASAN &amp; DAMPAK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Nilai Tambah Nyata ProMaP bagi Perusahaan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Untuk Pimpinan / Direksi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Transparansi penuh terhadap kemajuan inisiatif strategis seluruh divisi tanpa menunggu laporan akhir bulan.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Untuk Manager Divisi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Kontrol kualitas kerja yang objektif dengan bukti riil, delegasi tugas presisi, dan deteksi dini hambatan.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Untuk Pelaksana (PIC)</a:t>
            </a:r>
          </a:p>
          <a:p>
            <a:pPr>
              <a:spcBef>
                <a:spcPts val="1200"/>
              </a:spcBef>
              <a:defRPr sz="1100">
                <a:solidFill>
                  <a:srgbClr val="0F172A"/>
                </a:solidFill>
              </a:defRPr>
            </a:pPr>
            <a:r>
              <a:t>Kejelasan prioritas kerja harian di konsol 'My Work', tidak ada lagi miskomunikasi target atau tugas ganda.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Siap Mengubah Rencana Strategis Menjadi Tindakan Nyata Berakuntabilitas Tinggi</a:t>
            </a:r>
          </a:p>
          <a:p>
            <a:pPr algn="ctr"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ProMaP Enterprise V2.4 — Satu Workspace untuk Seluruh Divisi Perusahaan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